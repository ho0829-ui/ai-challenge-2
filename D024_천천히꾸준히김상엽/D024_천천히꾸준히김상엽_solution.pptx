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158F9C-05B5-4D37-BC3F-F401039F26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93455F-524E-41A1-870A-BC44C76AFA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9F2BDA2-F17A-4E6A-B371-E2CF76FE63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EA2EC9-84A3-4891-A69B-2015466C02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5AB6927-627C-4ED4-A29C-3A0C4DE274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F9D6FD2-80B6-488B-AC9F-42A32312D0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F551BB8-98B6-4799-8DA2-679D47C785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556556D-CF69-4251-8378-37059C3224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E2F8E1D-A22C-4025-BED9-600C7B6267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888E0AB-9D6F-42CD-865E-1C05D14C5A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7FD2656-16A9-4310-8F3A-81EB3D028D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11614B-C54C-49D5-8DE7-25F760B399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4CC678-4C48-47C5-9D10-9F25A9A832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B313D4-968E-4380-A409-C7667B038F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89A9F7-586F-4926-83E4-9655338FEF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B447A3-F51C-4A99-9125-B435814CB4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B78D24-7DA8-4D05-A5AB-BC4BA6A67B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4E8ECC-A6B6-495F-BCAA-24033F07B51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48C2F3-C158-4868-9F98-E2B9C70ABB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2BC77B-1921-4BFA-B9EF-721E6A1128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476CC3-025E-47E4-A243-3942339F9E1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E01716-7469-4B96-9BB3-0081930AB73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10881360" y="6144840"/>
            <a:ext cx="730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aa1b0"/>
                </a:solidFill>
                <a:latin typeface="Malgun Gothic"/>
              </a:rPr>
              <a:t>01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85800" y="1371600"/>
            <a:ext cx="7314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bf7917"/>
                </a:solidFill>
                <a:latin typeface="Malgun Gothic"/>
              </a:rPr>
              <a:t>D024_</a:t>
            </a:r>
            <a:r>
              <a:rPr b="1" lang="ko-KR" sz="1600" spc="-1" strike="noStrike">
                <a:solidFill>
                  <a:srgbClr val="bf7917"/>
                </a:solidFill>
                <a:latin typeface="Malgun Gothic"/>
              </a:rPr>
              <a:t>천천히 꾸준히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685800" y="1874520"/>
            <a:ext cx="9143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4400" spc="-1" strike="noStrike">
                <a:solidFill>
                  <a:srgbClr val="20295c"/>
                </a:solidFill>
                <a:latin typeface="Malgun Gothic"/>
              </a:rPr>
              <a:t>한국어 장면 텍스트 </a:t>
            </a:r>
            <a:r>
              <a:rPr b="1" lang="en-US" sz="4400" spc="-1" strike="noStrike">
                <a:solidFill>
                  <a:srgbClr val="20295c"/>
                </a:solidFill>
                <a:latin typeface="Malgun Gothic"/>
              </a:rPr>
              <a:t>VQA</a:t>
            </a: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685800" y="2788920"/>
            <a:ext cx="91432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700" spc="-1" strike="noStrike">
                <a:solidFill>
                  <a:srgbClr val="51596b"/>
                </a:solidFill>
                <a:latin typeface="Malgun Gothic"/>
              </a:rPr>
              <a:t>간판과 메뉴판을 읽고 </a:t>
            </a:r>
            <a:r>
              <a:rPr b="0" lang="en-US" sz="1700" spc="-1" strike="noStrike">
                <a:solidFill>
                  <a:srgbClr val="51596b"/>
                </a:solidFill>
                <a:latin typeface="Malgun Gothic"/>
              </a:rPr>
              <a:t>4</a:t>
            </a:r>
            <a:r>
              <a:rPr b="0" lang="ko-KR" sz="1700" spc="-1" strike="noStrike">
                <a:solidFill>
                  <a:srgbClr val="51596b"/>
                </a:solidFill>
                <a:latin typeface="Malgun Gothic"/>
              </a:rPr>
              <a:t>지선다 문항에 답하는 솔루션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85800" y="3703320"/>
            <a:ext cx="411408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600" spc="-1" strike="noStrike">
                <a:solidFill>
                  <a:srgbClr val="bf7917"/>
                </a:solidFill>
                <a:latin typeface="Malgun Gothic"/>
              </a:rPr>
              <a:t>0.97378</a:t>
            </a:r>
            <a:endParaRPr b="0" lang="en-US" sz="6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731520" y="4736520"/>
            <a:ext cx="41140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Public Leaderboard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5669280" y="4041720"/>
            <a:ext cx="54856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검증 </a:t>
            </a: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0.9767</a:t>
            </a:r>
            <a:r>
              <a:rPr b="0" lang="en-US" sz="1600" spc="-1" strike="noStrike">
                <a:solidFill>
                  <a:srgbClr val="51596b"/>
                </a:solidFill>
                <a:latin typeface="Malgun Gothic"/>
              </a:rPr>
              <a:t>   ·   </a:t>
            </a:r>
            <a:r>
              <a:rPr b="0" lang="ko-KR" sz="1600" spc="-1" strike="noStrike">
                <a:solidFill>
                  <a:srgbClr val="51596b"/>
                </a:solidFill>
                <a:latin typeface="Malgun Gothic"/>
              </a:rPr>
              <a:t>사진 단위 홀드아웃 </a:t>
            </a:r>
            <a:r>
              <a:rPr b="0" lang="en-US" sz="1600" spc="-1" strike="noStrike">
                <a:solidFill>
                  <a:srgbClr val="51596b"/>
                </a:solidFill>
                <a:latin typeface="Malgun Gothic"/>
              </a:rPr>
              <a:t>600</a:t>
            </a:r>
            <a:r>
              <a:rPr b="0" lang="ko-KR" sz="1600" spc="-1" strike="noStrike">
                <a:solidFill>
                  <a:srgbClr val="51596b"/>
                </a:solidFill>
                <a:latin typeface="Malgun Gothic"/>
              </a:rPr>
              <a:t>행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5669280" y="4443840"/>
            <a:ext cx="61995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학습 뷰 </a:t>
            </a: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6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개</a:t>
            </a:r>
            <a:r>
              <a:rPr b="0" lang="en-US" sz="1600" spc="-1" strike="noStrike">
                <a:solidFill>
                  <a:srgbClr val="51596b"/>
                </a:solidFill>
                <a:latin typeface="Malgun Gothic"/>
              </a:rPr>
              <a:t>   </a:t>
            </a:r>
            <a:r>
              <a:rPr b="0" lang="en-US" sz="1600" spc="-1" strike="noStrike">
                <a:solidFill>
                  <a:srgbClr val="51596b"/>
                </a:solidFill>
                <a:latin typeface="Malgun Gothic"/>
              </a:rPr>
              <a:t>Qwen3-VL 8B·4B + Gemma 26B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5669280" y="4846320"/>
            <a:ext cx="61995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무학습 뷰 </a:t>
            </a: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1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개</a:t>
            </a:r>
            <a:r>
              <a:rPr b="0" lang="en-US" sz="1600" spc="-1" strike="noStrike">
                <a:solidFill>
                  <a:srgbClr val="51596b"/>
                </a:solidFill>
                <a:latin typeface="Malgun Gothic"/>
              </a:rPr>
              <a:t>   </a:t>
            </a:r>
            <a:r>
              <a:rPr b="0" lang="en-US" sz="1600" spc="-1" strike="noStrike">
                <a:solidFill>
                  <a:srgbClr val="51596b"/>
                </a:solidFill>
                <a:latin typeface="Malgun Gothic"/>
              </a:rPr>
              <a:t>Gemma 4 26B-A4B  —  </a:t>
            </a:r>
            <a:r>
              <a:rPr b="0" lang="ko-KR" sz="1600" spc="-1" strike="noStrike">
                <a:solidFill>
                  <a:srgbClr val="51596b"/>
                </a:solidFill>
                <a:latin typeface="Malgun Gothic"/>
              </a:rPr>
              <a:t>학습 뷰와 같은 모델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685800" y="5760720"/>
            <a:ext cx="45712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10881360" y="6144840"/>
            <a:ext cx="730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aa1b0"/>
                </a:solidFill>
                <a:latin typeface="Malgun Gothic"/>
              </a:rPr>
              <a:t>02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685800" y="384120"/>
            <a:ext cx="108806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20295c"/>
                </a:solidFill>
                <a:latin typeface="Malgun Gothic"/>
              </a:rPr>
              <a:t>접근 전략과 최종 구성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685800" y="1134000"/>
            <a:ext cx="10880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모델별 오답 차이를 활용한 </a:t>
            </a: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7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개 뷰 </a:t>
            </a: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· 4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계열 앙상블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685800" y="5742360"/>
            <a:ext cx="10880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온도 보정 → 계열 내 로그확률 평균 → 네 계열 균등 결합    </a:t>
            </a:r>
            <a:r>
              <a:rPr b="0" lang="en-US" sz="1300" spc="-1" strike="noStrike">
                <a:solidFill>
                  <a:srgbClr val="51596b"/>
                </a:solidFill>
                <a:latin typeface="Malgun Gothic"/>
              </a:rPr>
              <a:t>·    VARCO 14B</a:t>
            </a: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는 </a:t>
            </a:r>
            <a:r>
              <a:rPr b="0" lang="en-US" sz="1300" spc="-1" strike="noStrike">
                <a:solidFill>
                  <a:srgbClr val="51596b"/>
                </a:solidFill>
                <a:latin typeface="Malgun Gothic"/>
              </a:rPr>
              <a:t>GL </a:t>
            </a: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계열을 넣으며 제외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685800" y="1900080"/>
            <a:ext cx="2285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Q 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계열   </a:t>
            </a: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1/4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3154680" y="1900080"/>
            <a:ext cx="84117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Qwen3-VL-8B + LoRA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Q 768 · Q2 1024 · Q3 1280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토큰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685800" y="2850120"/>
            <a:ext cx="2285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HR 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계열   </a:t>
            </a: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1/4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3154680" y="2850120"/>
            <a:ext cx="84117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Qwen3-VL-4B + LoRA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HR 1280 · HR2 1024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토큰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685800" y="3800160"/>
            <a:ext cx="2285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G 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계열   </a:t>
            </a: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1/4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3154680" y="3800160"/>
            <a:ext cx="84117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Gemma 4 26B-A4B · </a:t>
            </a:r>
            <a:r>
              <a:rPr b="1" lang="ko-KR" sz="1400" spc="-1" strike="noStrike">
                <a:solidFill>
                  <a:srgbClr val="20295c"/>
                </a:solidFill>
                <a:latin typeface="Malgun Gothic"/>
              </a:rPr>
              <a:t>무학습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G26B 560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토큰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+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표기 변형 프롬프트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7" name="TextBox 11"/>
          <p:cNvSpPr/>
          <p:nvPr/>
        </p:nvSpPr>
        <p:spPr>
          <a:xfrm>
            <a:off x="685800" y="4749840"/>
            <a:ext cx="2285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GL 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계열   </a:t>
            </a: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1/4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8" name="TextBox 12"/>
          <p:cNvSpPr/>
          <p:nvPr/>
        </p:nvSpPr>
        <p:spPr>
          <a:xfrm>
            <a:off x="3154680" y="4749840"/>
            <a:ext cx="84117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Gemma 4 26B-A4B + LoRA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G26L 560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토큰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· TTA 2 —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마지막에 추가해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+0.0024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10881360" y="6144840"/>
            <a:ext cx="730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aa1b0"/>
                </a:solidFill>
                <a:latin typeface="Malgun Gothic"/>
              </a:rPr>
              <a:t>03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685800" y="384120"/>
            <a:ext cx="108806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20295c"/>
                </a:solidFill>
                <a:latin typeface="Malgun Gothic"/>
              </a:rPr>
              <a:t>무엇이 뷰를 갈라놓는가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685800" y="1134000"/>
            <a:ext cx="10880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14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개 뷰의 오답 집합 </a:t>
            </a: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Jaccard 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유사도 전수 비교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685800" y="5742360"/>
            <a:ext cx="10880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학습은 상관을 키우지만</a:t>
            </a:r>
            <a:r>
              <a:rPr b="0" lang="en-US" sz="1300" spc="-1" strike="noStrike">
                <a:solidFill>
                  <a:srgbClr val="51596b"/>
                </a:solidFill>
                <a:latin typeface="Malgun Gothic"/>
              </a:rPr>
              <a:t>, </a:t>
            </a: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베이스가 앙상블 수준에 근접하면 그 비용보다 정확도 이득이 컸습니다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685800" y="1900080"/>
            <a:ext cx="2285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학습 여부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3154680" y="1900080"/>
            <a:ext cx="84117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1" lang="ko-KR" sz="1400" spc="-1" strike="noStrike">
                <a:solidFill>
                  <a:srgbClr val="20295c"/>
                </a:solidFill>
                <a:latin typeface="Malgun Gothic"/>
              </a:rPr>
              <a:t>학습↔학습 </a:t>
            </a: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0.509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    vs    </a:t>
            </a:r>
            <a:r>
              <a:rPr b="1" lang="ko-KR" sz="1400" spc="-1" strike="noStrike">
                <a:solidFill>
                  <a:srgbClr val="20295c"/>
                </a:solidFill>
                <a:latin typeface="Malgun Gothic"/>
              </a:rPr>
              <a:t>학습↔무학습 </a:t>
            </a: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0.273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     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격차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0.236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같은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6,114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행에 맞춘 뷰끼리는 같은 곳에서 무너짐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685800" y="2850120"/>
            <a:ext cx="2285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백본 계열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3154680" y="2850120"/>
            <a:ext cx="84117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Qwen↔Qwen 0.376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    vs    </a:t>
            </a: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Qwen↔</a:t>
            </a:r>
            <a:r>
              <a:rPr b="1" lang="ko-KR" sz="1400" spc="-1" strike="noStrike">
                <a:solidFill>
                  <a:srgbClr val="20295c"/>
                </a:solidFill>
                <a:latin typeface="Malgun Gothic"/>
              </a:rPr>
              <a:t>타사 </a:t>
            </a: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0.287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     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격차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0.089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모델을 바꾸는 것보다 학습 여부가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2.6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배 강한 분리축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685800" y="3800160"/>
            <a:ext cx="2285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통제 실험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3154680" y="3800160"/>
            <a:ext cx="84117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1" lang="ko-KR" sz="1400" spc="-1" strike="noStrike">
                <a:solidFill>
                  <a:srgbClr val="20295c"/>
                </a:solidFill>
                <a:latin typeface="Malgun Gothic"/>
              </a:rPr>
              <a:t>같은 </a:t>
            </a: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Gemma</a:t>
            </a:r>
            <a:r>
              <a:rPr b="1" lang="ko-KR" sz="1400" spc="-1" strike="noStrike">
                <a:solidFill>
                  <a:srgbClr val="20295c"/>
                </a:solidFill>
                <a:latin typeface="Malgun Gothic"/>
              </a:rPr>
              <a:t>를 학습 전후로 비교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Qwen 5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뷰와의 평균 겹침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0.294 → 0.345 (+0.051) ·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단독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0.9583 → 0.9650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685800" y="4749840"/>
            <a:ext cx="2285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재현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0" name="TextBox 12"/>
          <p:cNvSpPr/>
          <p:nvPr/>
        </p:nvSpPr>
        <p:spPr>
          <a:xfrm>
            <a:off x="3154680" y="4749840"/>
            <a:ext cx="84117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VARCO 14B</a:t>
            </a:r>
            <a:r>
              <a:rPr b="1" lang="ko-KR" sz="1400" spc="-1" strike="noStrike">
                <a:solidFill>
                  <a:srgbClr val="20295c"/>
                </a:solidFill>
                <a:latin typeface="Malgun Gothic"/>
              </a:rPr>
              <a:t>로 반복 — </a:t>
            </a: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0.194 → 0.279 (+0.085)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두 모델에서 같은 방향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.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다만 단독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0.9150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으로 낮아 앙상블 기여는 −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2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문항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10881360" y="6144840"/>
            <a:ext cx="730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aa1b0"/>
                </a:solidFill>
                <a:latin typeface="Malgun Gothic"/>
              </a:rPr>
              <a:t>04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685800" y="384120"/>
            <a:ext cx="108806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20295c"/>
                </a:solidFill>
                <a:latin typeface="Malgun Gothic"/>
              </a:rPr>
              <a:t>솔루션 코드와 학습 설정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685800" y="5742360"/>
            <a:ext cx="10880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배치 추론은 </a:t>
            </a:r>
            <a:r>
              <a:rPr b="0" lang="en-US" sz="1300" spc="-1" strike="noStrike">
                <a:solidFill>
                  <a:srgbClr val="51596b"/>
                </a:solidFill>
                <a:latin typeface="Malgun Gothic"/>
              </a:rPr>
              <a:t>left padding</a:t>
            </a: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으로 마지막 토큰의 채점 위치를 통일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685800" y="1719000"/>
            <a:ext cx="2285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선지 채점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3154680" y="1719000"/>
            <a:ext cx="84117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마지막 위치의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a/b/c/d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로짓만 추출해 로그확률 계산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텍스트 생성 없이 네 선지를 직접 비교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685800" y="2706480"/>
            <a:ext cx="2285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TTA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7" name="TextBox 7"/>
          <p:cNvSpPr/>
          <p:nvPr/>
        </p:nvSpPr>
        <p:spPr>
          <a:xfrm>
            <a:off x="3154680" y="2706480"/>
            <a:ext cx="84117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선지 순서를 순환시켜 채점한 뒤 원래 자리로 복원해 평균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학습 중에도 매 스텝 순열을 무작위로 섞음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8" name="TextBox 8"/>
          <p:cNvSpPr/>
          <p:nvPr/>
        </p:nvSpPr>
        <p:spPr>
          <a:xfrm>
            <a:off x="685800" y="3693960"/>
            <a:ext cx="2285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LoRA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9" name="TextBox 9"/>
          <p:cNvSpPr/>
          <p:nvPr/>
        </p:nvSpPr>
        <p:spPr>
          <a:xfrm>
            <a:off x="3154680" y="3693960"/>
            <a:ext cx="84117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r=32, alpha=64, dropout=0.05 ·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시각 인코더 제외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Gemma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는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MoE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전문가가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3D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로 융합돼 있어 공유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MLP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와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attention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만 대상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685800" y="4681440"/>
            <a:ext cx="2285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학습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1" name="TextBox 11"/>
          <p:cNvSpPr/>
          <p:nvPr/>
        </p:nvSpPr>
        <p:spPr>
          <a:xfrm>
            <a:off x="3154680" y="4681440"/>
            <a:ext cx="84117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lr 1e-4 cosine · warmup 5% ·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실효 배치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8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Qwen 8B 1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에폭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· 4B 2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에폭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· Gemma 26B-A4B 1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에폭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10881360" y="6144840"/>
            <a:ext cx="730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aa1b0"/>
                </a:solidFill>
                <a:latin typeface="Malgun Gothic"/>
              </a:rPr>
              <a:t>05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685800" y="384120"/>
            <a:ext cx="108806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20295c"/>
                </a:solidFill>
                <a:latin typeface="Malgun Gothic"/>
              </a:rPr>
              <a:t>실험 설계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685800" y="5742360"/>
            <a:ext cx="10880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검증 </a:t>
            </a:r>
            <a:r>
              <a:rPr b="0" lang="en-US" sz="1300" spc="-1" strike="noStrike">
                <a:solidFill>
                  <a:srgbClr val="51596b"/>
                </a:solidFill>
                <a:latin typeface="Malgun Gothic"/>
              </a:rPr>
              <a:t>600</a:t>
            </a: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행은 최종적으로 오답 </a:t>
            </a:r>
            <a:r>
              <a:rPr b="0" lang="en-US" sz="1300" spc="-1" strike="noStrike">
                <a:solidFill>
                  <a:srgbClr val="51596b"/>
                </a:solidFill>
                <a:latin typeface="Malgun Gothic"/>
              </a:rPr>
              <a:t>14</a:t>
            </a: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개까지 줄어 포화 — 이후 판정은 </a:t>
            </a:r>
            <a:r>
              <a:rPr b="0" lang="en-US" sz="1300" spc="-1" strike="noStrike">
                <a:solidFill>
                  <a:srgbClr val="51596b"/>
                </a:solidFill>
                <a:latin typeface="Malgun Gothic"/>
              </a:rPr>
              <a:t>Public 3,357</a:t>
            </a: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행을 계측기로 사용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685800" y="1719000"/>
            <a:ext cx="2742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검증셋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3611880" y="1719000"/>
            <a:ext cx="79545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이미지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MD5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로 묶어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600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행 분리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(seed 42)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같은 사진이 학습과 검증에 함께 들어가는 것을 차단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685800" y="2706480"/>
            <a:ext cx="2742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추가 학습 데이터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3611880" y="2706480"/>
            <a:ext cx="79545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dev.csv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다수결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2,097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행 채택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MIN_VOTES 3 · MIN_AGREE 0.5 · MIN_MARGIN 1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685800" y="3693960"/>
            <a:ext cx="2742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구성 비교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3611880" y="3693960"/>
            <a:ext cx="79545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정확도 대신 고침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·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망침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·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순증을 같은 문항에서 비교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binomtest p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값으로 우연 여부 판단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685800" y="4681440"/>
            <a:ext cx="2742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온도 보정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2" name="TextBox 11"/>
          <p:cNvSpPr/>
          <p:nvPr/>
        </p:nvSpPr>
        <p:spPr>
          <a:xfrm>
            <a:off x="3611880" y="4681440"/>
            <a:ext cx="79545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뷰별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log-loss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최소화 —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Qwen 0.75~1.04, Gemma 3.36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5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분할 교차 적합으로 같은 검증셋 재사용 편향 점검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10881360" y="6144840"/>
            <a:ext cx="730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aa1b0"/>
                </a:solidFill>
                <a:latin typeface="Malgun Gothic"/>
              </a:rPr>
              <a:t>06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685800" y="384120"/>
            <a:ext cx="108806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20295c"/>
                </a:solidFill>
                <a:latin typeface="Malgun Gothic"/>
              </a:rPr>
              <a:t>주요 실험 결과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685800" y="1134000"/>
            <a:ext cx="10880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리더보드를 실제로 움직인 개입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685800" y="5742360"/>
            <a:ext cx="10880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받아쓰기 이식은 검증 </a:t>
            </a:r>
            <a:r>
              <a:rPr b="0" lang="en-US" sz="1300" spc="-1" strike="noStrike">
                <a:solidFill>
                  <a:srgbClr val="51596b"/>
                </a:solidFill>
                <a:latin typeface="Malgun Gothic"/>
              </a:rPr>
              <a:t>+2</a:t>
            </a: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문항</a:t>
            </a:r>
            <a:r>
              <a:rPr b="0" lang="en-US" sz="1300" spc="-1" strike="noStrike">
                <a:solidFill>
                  <a:srgbClr val="51596b"/>
                </a:solidFill>
                <a:latin typeface="Malgun Gothic"/>
              </a:rPr>
              <a:t>(p=0.5)</a:t>
            </a: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이었으나 리더보드 −</a:t>
            </a:r>
            <a:r>
              <a:rPr b="0" lang="en-US" sz="1300" spc="-1" strike="noStrike">
                <a:solidFill>
                  <a:srgbClr val="51596b"/>
                </a:solidFill>
                <a:latin typeface="Malgun Gothic"/>
              </a:rPr>
              <a:t>0.0006 — </a:t>
            </a: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제외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685800" y="1800000"/>
            <a:ext cx="17366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bf7917"/>
                </a:solidFill>
                <a:latin typeface="Malgun Gothic"/>
              </a:rPr>
              <a:t>+0.005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2743200" y="1827360"/>
            <a:ext cx="39312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Gemma 26B-A4B 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추가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6766560" y="1854720"/>
            <a:ext cx="48456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구조가 다른 첫 무학습 계열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.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단독 정확도는 학습한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8B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와 동일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685800" y="2589840"/>
            <a:ext cx="17366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bf7917"/>
                </a:solidFill>
                <a:latin typeface="Malgun Gothic"/>
              </a:rPr>
              <a:t>+0.0024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2743200" y="2617200"/>
            <a:ext cx="39312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Gemma 26B LoRA 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학습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6766560" y="2644560"/>
            <a:ext cx="48456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비어 있던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'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학습한 비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-Qwen'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칸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.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단독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0.9583 → 0.9650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685800" y="3380040"/>
            <a:ext cx="17366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bf7917"/>
                </a:solidFill>
                <a:latin typeface="Malgun Gothic"/>
              </a:rPr>
              <a:t>+0.001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2743200" y="3407400"/>
            <a:ext cx="39312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VARCO 14B 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추가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5" name="TextBox 13"/>
          <p:cNvSpPr/>
          <p:nvPr/>
        </p:nvSpPr>
        <p:spPr>
          <a:xfrm>
            <a:off x="6766560" y="3434760"/>
            <a:ext cx="48456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한국어 특화지만 백본이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Qwen3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라 기여가 제한적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6" name="TextBox 14"/>
          <p:cNvSpPr/>
          <p:nvPr/>
        </p:nvSpPr>
        <p:spPr>
          <a:xfrm>
            <a:off x="685800" y="4169880"/>
            <a:ext cx="17366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bf7917"/>
                </a:solidFill>
                <a:latin typeface="Malgun Gothic"/>
              </a:rPr>
              <a:t>+0.0004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7" name="TextBox 15"/>
          <p:cNvSpPr/>
          <p:nvPr/>
        </p:nvSpPr>
        <p:spPr>
          <a:xfrm>
            <a:off x="2743200" y="4197240"/>
            <a:ext cx="39312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표기 변형 프롬프트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8" name="TextBox 16"/>
          <p:cNvSpPr/>
          <p:nvPr/>
        </p:nvSpPr>
        <p:spPr>
          <a:xfrm>
            <a:off x="6766560" y="4224600"/>
            <a:ext cx="48456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해당 문항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342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행에만 적용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,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최종 답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6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행 변경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9" name="TextBox 17"/>
          <p:cNvSpPr/>
          <p:nvPr/>
        </p:nvSpPr>
        <p:spPr>
          <a:xfrm>
            <a:off x="685800" y="5040000"/>
            <a:ext cx="108806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51596b"/>
                </a:solidFill>
                <a:latin typeface="Malgun Gothic"/>
              </a:rPr>
              <a:t>0.965  →  0.970  →  0.97140  →  </a:t>
            </a:r>
            <a:r>
              <a:rPr b="1" lang="en-US" sz="2000" spc="-1" strike="noStrike">
                <a:solidFill>
                  <a:srgbClr val="bf7917"/>
                </a:solidFill>
                <a:latin typeface="Malgun Gothic"/>
              </a:rPr>
              <a:t>0.97378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/>
          <p:nvPr/>
        </p:nvSpPr>
        <p:spPr>
          <a:xfrm>
            <a:off x="10881360" y="6144840"/>
            <a:ext cx="730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aa1b0"/>
                </a:solidFill>
                <a:latin typeface="Malgun Gothic"/>
              </a:rPr>
              <a:t>07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685800" y="384120"/>
            <a:ext cx="108806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20295c"/>
                </a:solidFill>
                <a:latin typeface="Malgun Gothic"/>
              </a:rPr>
              <a:t>표기 변형 문항 처리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685800" y="1134000"/>
            <a:ext cx="10880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의미가 같고 표기만 다른 선지에 별도 지시 적용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685800" y="5742360"/>
            <a:ext cx="10880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같은 지시를 학습한 </a:t>
            </a:r>
            <a:r>
              <a:rPr b="0" lang="en-US" sz="1300" spc="-1" strike="noStrike">
                <a:solidFill>
                  <a:srgbClr val="51596b"/>
                </a:solidFill>
                <a:latin typeface="Malgun Gothic"/>
              </a:rPr>
              <a:t>Qwen </a:t>
            </a: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뷰에 적용하면 정오답 변화 </a:t>
            </a:r>
            <a:r>
              <a:rPr b="0" lang="en-US" sz="1300" spc="-1" strike="noStrike">
                <a:solidFill>
                  <a:srgbClr val="51596b"/>
                </a:solidFill>
                <a:latin typeface="Malgun Gothic"/>
              </a:rPr>
              <a:t>0 — </a:t>
            </a: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무학습 뷰에만 유효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685800" y="1920240"/>
            <a:ext cx="18280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문제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5" name="TextBox 6"/>
          <p:cNvSpPr/>
          <p:nvPr/>
        </p:nvSpPr>
        <p:spPr>
          <a:xfrm>
            <a:off x="2697480" y="1920240"/>
            <a:ext cx="88689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쌀의 날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/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쌀의 날 기념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/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쌀의 날 기념일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/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쌀의 날 행사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네 선지가 모두 맞아 의미로는 구분 불가 — 전체의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5~6%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6" name="TextBox 7"/>
          <p:cNvSpPr/>
          <p:nvPr/>
        </p:nvSpPr>
        <p:spPr>
          <a:xfrm>
            <a:off x="685800" y="2880360"/>
            <a:ext cx="18280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탐지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7" name="TextBox 8"/>
          <p:cNvSpPr/>
          <p:nvPr/>
        </p:nvSpPr>
        <p:spPr>
          <a:xfrm>
            <a:off x="2697480" y="2880360"/>
            <a:ext cx="886896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공백 제거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·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소문자 변환 후 선지 간 부분문자열 포함 검사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8" name="TextBox 9"/>
          <p:cNvSpPr/>
          <p:nvPr/>
        </p:nvSpPr>
        <p:spPr>
          <a:xfrm>
            <a:off x="685800" y="3840480"/>
            <a:ext cx="18280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적용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2697480" y="3840480"/>
            <a:ext cx="88689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Gemma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뷰의 해당 문항에만 지시 추가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“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사진에 적힌 글자와 완전히 일치하는 것을 고르라”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0" name="TextBox 11"/>
          <p:cNvSpPr/>
          <p:nvPr/>
        </p:nvSpPr>
        <p:spPr>
          <a:xfrm>
            <a:off x="685800" y="4800600"/>
            <a:ext cx="18280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결과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1" name="TextBox 12"/>
          <p:cNvSpPr/>
          <p:nvPr/>
        </p:nvSpPr>
        <p:spPr>
          <a:xfrm>
            <a:off x="2697480" y="4800600"/>
            <a:ext cx="88689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1" lang="ko-KR" sz="1400" spc="-1" strike="noStrike">
                <a:solidFill>
                  <a:srgbClr val="20295c"/>
                </a:solidFill>
                <a:latin typeface="Malgun Gothic"/>
              </a:rPr>
              <a:t>변형 구간 </a:t>
            </a:r>
            <a:r>
              <a:rPr b="1" lang="en-US" sz="1400" spc="-1" strike="noStrike">
                <a:solidFill>
                  <a:srgbClr val="20295c"/>
                </a:solidFill>
                <a:latin typeface="Malgun Gothic"/>
              </a:rPr>
              <a:t>0.8649 → 0.9189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 ·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테스트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342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행 중 답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6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행 변경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Public LB 0.97100 → 0.97140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"/>
          <p:cNvSpPr/>
          <p:nvPr/>
        </p:nvSpPr>
        <p:spPr>
          <a:xfrm>
            <a:off x="10881360" y="6144840"/>
            <a:ext cx="730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aa1b0"/>
                </a:solidFill>
                <a:latin typeface="Malgun Gothic"/>
              </a:rPr>
              <a:t>08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685800" y="384120"/>
            <a:ext cx="108806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200" spc="-1" strike="noStrike">
                <a:solidFill>
                  <a:srgbClr val="20295c"/>
                </a:solidFill>
                <a:latin typeface="Malgun Gothic"/>
              </a:rPr>
              <a:t>효과가 없던 시도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685800" y="1134000"/>
            <a:ext cx="10880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같은 검증 문항에서 무엇이 달라졌는지로 전부 기각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5" name="TextBox 4"/>
          <p:cNvSpPr/>
          <p:nvPr/>
        </p:nvSpPr>
        <p:spPr>
          <a:xfrm>
            <a:off x="685800" y="5742360"/>
            <a:ext cx="10880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300" spc="-1" strike="noStrike">
                <a:solidFill>
                  <a:srgbClr val="51596b"/>
                </a:solidFill>
                <a:latin typeface="Malgun Gothic"/>
              </a:rPr>
              <a:t>무엇을 추가했는지보다 같은 문항에서 무엇이 달라졌는지가 판단 기준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685800" y="1719000"/>
            <a:ext cx="2742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모델 추가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7" name="TextBox 6"/>
          <p:cNvSpPr/>
          <p:nvPr/>
        </p:nvSpPr>
        <p:spPr>
          <a:xfrm>
            <a:off x="3611880" y="1719000"/>
            <a:ext cx="79545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InternVL3-38B 5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구성 전부 음수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· Gemma 31B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투입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7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구성 순증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VARCO 14B LoRA −2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문항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· Gemma 26B LoRA 2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에폭 리더보드 −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0.0012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685800" y="2706480"/>
            <a:ext cx="2742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입력 </a:t>
            </a: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· 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해상도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9" name="TextBox 8"/>
          <p:cNvSpPr/>
          <p:nvPr/>
        </p:nvSpPr>
        <p:spPr>
          <a:xfrm>
            <a:off x="3611880" y="2706480"/>
            <a:ext cx="79545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해상도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2048/3072,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타일링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,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글자 영역 크롭 — 이미지가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0.7~1.1MP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학습한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Gemma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를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1120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토큰으로 추론 — 앙상블 예측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행 변화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0" name="TextBox 9"/>
          <p:cNvSpPr/>
          <p:nvPr/>
        </p:nvSpPr>
        <p:spPr>
          <a:xfrm>
            <a:off x="685800" y="3693960"/>
            <a:ext cx="2742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채점 </a:t>
            </a:r>
            <a:r>
              <a:rPr b="1" lang="en-US" sz="1600" spc="-1" strike="noStrike">
                <a:solidFill>
                  <a:srgbClr val="20295c"/>
                </a:solidFill>
                <a:latin typeface="Malgun Gothic"/>
              </a:rPr>
              <a:t>· </a:t>
            </a: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결합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3611880" y="3693960"/>
            <a:ext cx="79545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산술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·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순위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·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투표 모두 기하평균 이하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·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가중치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375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조합 최대 순증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+1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저마진 행만 다른 뷰로 재검토 —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25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개 조합 전부 음수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2" name="TextBox 11"/>
          <p:cNvSpPr/>
          <p:nvPr/>
        </p:nvSpPr>
        <p:spPr>
          <a:xfrm>
            <a:off x="685800" y="4681440"/>
            <a:ext cx="2742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0295c"/>
                </a:solidFill>
                <a:latin typeface="Malgun Gothic"/>
              </a:rPr>
              <a:t>대체 신호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3" name="TextBox 12"/>
          <p:cNvSpPr/>
          <p:nvPr/>
        </p:nvSpPr>
        <p:spPr>
          <a:xfrm>
            <a:off x="3611880" y="4681440"/>
            <a:ext cx="79545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눈 가린 뷰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0.5167 · 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선지 우도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0.8533 · CoT 0.9433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35000"/>
              </a:lnSpc>
            </a:pP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정답의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73.3%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가 값 순위 가운데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(p=0.000)</a:t>
            </a:r>
            <a:r>
              <a:rPr b="0" lang="ko-KR" sz="1400" spc="-1" strike="noStrike">
                <a:solidFill>
                  <a:srgbClr val="51596b"/>
                </a:solidFill>
                <a:latin typeface="Malgun Gothic"/>
              </a:rPr>
              <a:t>였으나 사전확률로 넣어도 고침 </a:t>
            </a:r>
            <a:r>
              <a:rPr b="0" lang="en-US" sz="1400" spc="-1" strike="noStrike">
                <a:solidFill>
                  <a:srgbClr val="51596b"/>
                </a:solidFill>
                <a:latin typeface="Malgun Gothic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ko-KR</dc:language>
  <cp:lastModifiedBy/>
  <dcterms:modified xsi:type="dcterms:W3CDTF">2026-09-27T16:44:44Z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